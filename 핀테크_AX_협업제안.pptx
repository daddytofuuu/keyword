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02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AI/AX 전략 및 협업 제안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AI/AX 전략으로 소비재 도메인의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획득에서 유지까지의 완전한 루프를 구축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소비재 도메인에서의 데이터 기반 실행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보조제 섭취 + 생체신호 + AI 코칭 + 게임형 몰입 설계를 결합한 차세대 남성 퍼포먼스 플랫폼을 구축하고, 데이터 기반 고객 타겟팅으로 효율적 획득 실현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2697480" cy="13716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063240"/>
            <a:ext cx="26974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소비자 참여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10712"/>
            <a:ext cx="2514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게이미피케이션/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성과 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063240"/>
            <a:ext cx="2697480" cy="13716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3063240"/>
            <a:ext cx="26974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코칭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410712"/>
            <a:ext cx="2514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개인 맞춤 조언/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실시간 피드백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063240"/>
            <a:ext cx="2697480" cy="13716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3063240"/>
            <a:ext cx="26974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 전략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410712"/>
            <a:ext cx="2514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내부+외부 데이터/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통합 분석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3063240"/>
            <a:ext cx="2697480" cy="13716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0" y="3063240"/>
            <a:ext cx="26974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타겟팅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3410712"/>
            <a:ext cx="2514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행동 기반/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정밀 타겟팅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63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Project #1  In Planning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466344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663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Project #2  In Planning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466344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663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협업 제안 준비 완료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94944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694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 - AI/AX 전략 및 협업 제안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전략적 접근을 위한 8개 핵심 섹션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70078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00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609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865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프로젝트 개요 / 두 프로젝트 통합 전략 / AI/AX 전략 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48072" y="175564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17556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준비 완료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41401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" y="2322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5786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퍼포먼스 서비스 / 게이미피케이션 / 구독 비즈니스 모델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48072" y="246888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24688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기획 중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12724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3291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데이터 기반 타겟팅 / 행동 기반 타겟팅 / 데이터 통합 시스템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48072" y="318211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318211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핵심 프로젝트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694176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84048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4005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전략적 중요성 / 시장 포지셔닝 / ROI 기대 효과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48072" y="389534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8953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분석 완료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72200" y="1554480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81928" y="170078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1700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02552" y="1609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Needs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02552" y="18653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협업 요구사항 / 데이터 접근 전략 / 규제/법적 제약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954512" y="175564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54512" y="17556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협업 제안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72200" y="2267712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81928" y="241401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02552" y="2322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02552" y="25786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기대 가치 및 성과 / 실행 가능 인사이트 / 검증된 결과 공유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954512" y="246888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54512" y="24688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성과 예상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72200" y="2980944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81928" y="312724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02552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02552" y="3291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피드백 루프 / 실행→검증→개선 / 지속적 최적화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954512" y="318211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54512" y="318211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운영 중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72200" y="3694176"/>
            <a:ext cx="5760720" cy="65836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81928" y="384048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1928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02552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02552" y="4005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마무리 및 다음 단계 / 주요 결론 / 다음 행동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954512" y="389534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54512" y="38953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완료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83564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8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INTEGRATION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- 두 프로젝트의 통합 전략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Acquisition → Engagement → Retention → Learning의 완전한 루프 구축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577840" cy="2926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64208"/>
            <a:ext cx="201625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20162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#1  In Planning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938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소비자 서비스 및 참여 설계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AI-powered consumer performance service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Gamified engagement (score, XP, streak)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Subscription-based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638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Goal: behavior change &amp; retention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577840" cy="2926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664208"/>
            <a:ext cx="201625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64208"/>
            <a:ext cx="20162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#2  In Planning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기반 타겟팅 및 획득 효율화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Data-driven customer targeting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578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Behavior-based targeting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8712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Internal + external data fusion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1638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Goal: acquisition efficiency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11384280" cy="86868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663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Internal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구매, 사용, 참여 신호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75688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4176" y="4663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Targeting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94176" y="49194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세그먼트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2664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31152" y="4663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1152" y="49194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개인화 조치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49640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168128" y="4663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External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68128" y="49194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라이프스타일, 건강 행동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FEEDBACK LOOP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AI/AX 전략 맵 - Closed Loop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</a:rPr>
              <a:t>Target → Engage → Retain → Learn → Improve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14884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9012" y="17373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9012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Acquisition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고객 획득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타겟팅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23744" y="2514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24328" y="1600200"/>
            <a:ext cx="214884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97580" y="17373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7580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15768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Engagement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15768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참여 설계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15768" y="2880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경험 최적화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514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82896" y="1600200"/>
            <a:ext cx="214884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56148" y="17373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56148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74336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Retention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74336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유지 관리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74336" y="2880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성과 분석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514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41464" y="1600200"/>
            <a:ext cx="214884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14716" y="17373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4716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32904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32904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데이터 분석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32904" y="2880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인사이트 도출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99448" y="2514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00032" y="1600200"/>
            <a:ext cx="214884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73284" y="17373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73284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91472" y="2221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91472" y="25603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</a:rPr>
              <a:t>타겟팅 개선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91472" y="2880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정밀화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4160520"/>
            <a:ext cx="3474720" cy="6858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2960" y="4206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+25%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920240" y="4325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Conversion Rate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17720" y="4160520"/>
            <a:ext cx="3474720" cy="6858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09160" y="4206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+15%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5806440" y="4325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Retention Rate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503920" y="4160520"/>
            <a:ext cx="3474720" cy="6858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595360" y="4206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+30%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9692640" y="4325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ROI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#1: AI 퍼포먼스 서비스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소비자 서비스 및 참여 설계를 통해 고객 획득과 유지를 목표로 하는 AI 퍼포먼스 서비스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✓  AI-powered consumer performance 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✓  Gamified engagement (score, XP, streak)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✓  Subscription-based retention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4114800" cy="34747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코칭 시스템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0" y="2029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개인 맞춤형 퍼포먼스 코칭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23957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AI-powered insights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09560" y="26700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Real-time feedback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09560" y="29443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Behavior change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32186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Performance tracking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4617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기획 중 (65% 완료)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72184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CONSUMER SERVICE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(In Planning) - AI 퍼포먼스 서비스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0" cy="30175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54864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코칭 시스템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개인 맞춤형 퍼포먼스 코칭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AI-powered insights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Real-time feedback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Behavior change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9981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Performance tracking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5486400" cy="30175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54864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구독 모델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099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Monthly subscription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Premium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40487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Retention Rate: 85%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544568"/>
            <a:ext cx="5486400" cy="30175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544568"/>
            <a:ext cx="54864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544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게이미피케이션 메커니즘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92861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Onboarding→AI assessment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2760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Daily Check→Track state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56235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AI Coach→Rewards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97103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참여률: 85%  |  연속: 12일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4544568"/>
            <a:ext cx="5486400" cy="30175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4544568"/>
            <a:ext cx="54864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4544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비즈니스 모델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92861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Entry via supplement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52760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₩29,900/month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56235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Subscription retention: 85%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597103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Data personalization: +23%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PROJECT #1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퍼포먼스 서비스 상세 실행 계획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게이미피케이션 기반의 유저 획득 및 리텐션 강화를 위한 핵심 아키텍처 및 로드맵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11384280" cy="13258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910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전략 방향 및 목표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10972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Objective: "게이미피케이션 메커니즘을 통한 유저 획득 및 리텐션 강화"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DAU (일간 활성 사용자 수)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196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잔존율 (Retention Rate)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00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프리미엄 전환율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11384280" cy="10972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99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핵심 기능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2606040" cy="530352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012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성과 추적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9272" y="3310128"/>
            <a:ext cx="2606040" cy="530352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31012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코칭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35624" y="3310128"/>
            <a:ext cx="2606040" cy="530352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331012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소셜 경쟁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51976" y="3310128"/>
            <a:ext cx="2606040" cy="530352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51976" y="3310128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보상 시스템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11384280" cy="13716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187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단계별 로드맵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498848"/>
            <a:ext cx="356616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9884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출시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70248" y="4498848"/>
            <a:ext cx="3566160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48" y="449884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확장 및 최적화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37576" y="4498848"/>
            <a:ext cx="3566160" cy="713232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37576" y="449884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파트너십 확대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ENGAGEMENT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Engagement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게이미피케이션 메커니즘과 리텐션 플라이휠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5577840" cy="38404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27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</a:rPr>
              <a:t>게이미피케이션 메커니즘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202996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0299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퍼포먼스 점수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57860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78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5786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경험치 적립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12724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1272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31272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등급 시스템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367588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675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36758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연속 달성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79392"/>
            <a:ext cx="1572768" cy="4572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79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+35% 참여율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94560" y="4279392"/>
            <a:ext cx="1572768" cy="4572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4279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2.5x 리텐션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86200" y="4279392"/>
            <a:ext cx="1572768" cy="4572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4279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4.2 일일 세션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536192"/>
            <a:ext cx="5577840" cy="38404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1627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</a:rPr>
              <a:t>리텐션 플라이휠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21040" y="1783080"/>
            <a:ext cx="10972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1806593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참여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+15%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251077" y="2907792"/>
            <a:ext cx="10972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7811" y="2910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만족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+22%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21040" y="4187952"/>
            <a:ext cx="10972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1879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공유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+18%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56317" y="2971800"/>
            <a:ext cx="10972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6317" y="2969623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재참여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+30%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74083" y="2834640"/>
            <a:ext cx="1463040" cy="914400"/>
          </a:xfrm>
          <a:prstGeom prst="ellipse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0817" y="28346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리텐션률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#2: 데이터 기반 타겟팅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AI/AX를 활용한 정밀한 고객 타겟팅 및 개인화 마케팅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▸  고객 행동 데이터 분석 및 세분화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▸  AI 기반 잠재 고객 예측 모델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▸  개인화된 마케팅 메시지 전달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600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85%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0" y="2267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정확도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1600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+40%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235440" y="2267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전환율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0" y="1600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+25%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698480" y="2267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리텐션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Objective: "기존 인구통계학적 타겟팅에서 행동기반 타겟팅으로 전환하여 정확도 85% 달성"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REVENUE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#1 - Business Model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0116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보조제 엔트리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20116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구독 리텐션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01200" y="1325880"/>
            <a:ext cx="20116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 기반 개인화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3657600" cy="32004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20240"/>
            <a:ext cx="3657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보조제 판매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359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</a:rPr>
              <a:t>₩45,000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2889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일회성 구매로 고객 획득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Conversion 15%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30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ARPU ₩45K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3672" y="1920240"/>
            <a:ext cx="3657600" cy="32004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33672" y="1920240"/>
            <a:ext cx="3657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프리미엄 구독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25112" y="2359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</a:rPr>
              <a:t>₩29,900/월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25112" y="2889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코칭 서비스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25112" y="3246120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25112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Retention 85%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25112" y="3630168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5112" y="3630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MRR ₩29.9K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01584" y="1920240"/>
            <a:ext cx="3657600" cy="32004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01584" y="1920240"/>
            <a:ext cx="3657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수익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93024" y="2359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</a:rPr>
              <a:t>₩15,000/월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193024" y="2889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건강 데이터 분석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3246120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Utilization 92%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93024" y="3630168"/>
            <a:ext cx="3474720" cy="3200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93024" y="3630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ARPU ₩15K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AX INITIATIVE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#2 (In Planning) - 데이터 기반 고객 타겟팅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현재 타겟팅의 문제점과 개선 방향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657600" cy="1417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824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타겟팅 범위 과다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4825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현재 타겟팅이 넓고 비효율적, 자원 낭비 발생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4528" y="1572768"/>
            <a:ext cx="3657600" cy="1417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572768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6824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내부 데이터 편향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204825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기존 고객 데이터만 반영, 신규 고객 예측 어려움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3296" y="1572768"/>
            <a:ext cx="3657600" cy="1417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1572768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6824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잠재 고객 식별 실패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6176" y="204825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고잠재 고객을 찾기 어려운 상황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11384280" cy="68580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타겟팅 정확도 45%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전환율 32%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리텐션 28%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136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인구통계 기반(45%)  →  행동 기반(85%)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343400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43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+40% 정확도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06240" y="4343400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4343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+25% 전환율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01000" y="4343400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4343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+30% 리텐션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타겟팅 방식 비교 분석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Demographic vs Behavior-Based Targeting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5486400" cy="3291840"/>
          </a:xfrm>
          <a:prstGeom prst="rect">
            <a:avLst/>
          </a:prstGeom>
          <a:solidFill>
            <a:srgbClr val="1E1020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54864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인구통계 타겟팅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나이, 지역 기반 넓은 세그먼트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경험적 직관에 의한 타겟팅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단순한 인구통계 데이터 활용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전환율 15%  |  ROI 2.3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✗ 타겟 범위가 넓어 비용 낭비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✗ 정확한 고객 식별 어려움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✗ 낮은 전환율과 ROI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536192"/>
            <a:ext cx="5486400" cy="3291840"/>
          </a:xfrm>
          <a:prstGeom prst="rect">
            <a:avLst/>
          </a:prstGeom>
          <a:solidFill>
            <a:srgbClr val="0F2010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536192"/>
            <a:ext cx="5486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361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행동 기반 타겟팅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965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라이프스타일 패턴 분석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2585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건강 행동 데이터 활용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5511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퍼포먼스 지표 기반 정밀 타겟팅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전환율 42%  |  ROI 4.8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29184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정확한 고객 프로필 식별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56616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높은 전환율과 ROI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개인화된 마케팅 메시지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95604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+67% 효율성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495604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+45% 정확도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495604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-32% 비용 절감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006840" y="495604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4956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+28% 고객 유지율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83564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8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FUSION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전략 및 융합 시스템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</a:rPr>
              <a:t>내부 + 외부 데이터 융합 → 세그멘테이션 → 타겟팅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926080" cy="2560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Internal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구매 행동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제품 사용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참여 신호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사용자 프로필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31920" y="1554480"/>
            <a:ext cx="4114800" cy="256032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554480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Fusion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세그멘테이션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23317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고가치 고객 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26060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잠재 고객 45%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28803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관심 고객 30%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31546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정확도 92%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86800" y="1554480"/>
            <a:ext cx="3108960" cy="2560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23960" y="16276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20116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라이프스타일 패턴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2331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건강 관련 행동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2651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소비자 데이터셋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2971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시장 트렌드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11384280" cy="1261872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성과 지표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45152"/>
            <a:ext cx="265176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451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전환율 +35%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4645152"/>
            <a:ext cx="265176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6451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참여율 +42%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26480" y="4645152"/>
            <a:ext cx="265176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6451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ROI +28%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961120" y="4645152"/>
            <a:ext cx="2651760" cy="640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46451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목표 달성 88%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타겟팅의 핵심 과제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Key Challenges Matrix — 4개 주요 과제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486400" cy="18288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6642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64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645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편향성 (내부 데이터만)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Impact: 85%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현재 시스템은 기존 고객 데이터만 활용하여 잠재 고객을 식별하기 어렵습니다.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5486400" cy="18288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66420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664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03720" y="16459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외부 데이터 접근성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52760" y="16642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Impact: 65%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라이프스타일, 건강 관련 행동, 소비자 행동 데이터셋 등 외부 데이터에 대한 접근이 제한적입니다.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5486400" cy="18288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67588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758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데이터 통합 복잡성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Impact: 70%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내부 데이터와 외부 데이터의 형식, 구조, 품질이 달라 통합 과정에서 데이터 정제 및 매핑 작업이 복잡합니다.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566160"/>
            <a:ext cx="5486400" cy="18288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0488" y="367588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36758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03720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개인정보 및 규제 제약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52760" y="367588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Impact: 90%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02336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개인정보 보호법, GDPR 등 규제 환경에서 데이터 수집 및 활용에 대한 법적 제약이 있습니다.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54864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각 과제는 순차적으로 해결되어야 하며, 데이터 품질과 규제 준수를 최우선으로 고려해야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61288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61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SEGMENTATION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Framework - Customer Segmentation Logic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</a:rPr>
              <a:t>3단계 타겟팅 프레임워크: 행동 패턴 → 라이프스타일 → 성과 지표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051560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1 — Behavioral 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Purchase Behavior  |  Usage Frequency  |  Engagement Signals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532888"/>
            <a:ext cx="9144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87752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2 — Lifestyle Signals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Health Behaviors  |  Consumer Data  |  Lifestyle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3493008"/>
            <a:ext cx="7772400" cy="77724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547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 3 — Performance Indicators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85876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Performance Indicators  |  Performance Data  |  Goal Achievement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2103120" cy="457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Behavioral Pattern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4526280"/>
            <a:ext cx="2103120" cy="457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Lifestyle Matching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92640" y="4526280"/>
            <a:ext cx="2103120" cy="457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Performance Indicator Evaluation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120640"/>
            <a:ext cx="3611880" cy="548640"/>
          </a:xfrm>
          <a:prstGeom prst="roundRect">
            <a:avLst>
              <a:gd name="adj" fmla="val 11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120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Audience: 25,000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24528" y="5120640"/>
            <a:ext cx="3611880" cy="548640"/>
          </a:xfrm>
          <a:prstGeom prst="roundRect">
            <a:avLst>
              <a:gd name="adj" fmla="val 11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5120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Conversion Rate: 15%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5120640"/>
            <a:ext cx="3611880" cy="548640"/>
          </a:xfrm>
          <a:prstGeom prst="roundRect">
            <a:avLst>
              <a:gd name="adj" fmla="val 11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83296" y="5120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ROI Improvement: +30%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협업이 중요한 이유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기반 타겟팅의 성공을 위한 전략적 협업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3566160" cy="19202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88620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 접근 경험 필요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27024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내부/외부 데이터 접근의 실제 어려움과 해결 경험을 얻고자 합니다.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51846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85% Data Accessibility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+30% Improvement Potential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42816" y="3886200"/>
            <a:ext cx="3566160" cy="19202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2816" y="388620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규제 제약 전문성 필요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34256" y="427024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개인정보 보호법, GDPR 등 규제 환경에서의 데이터 활용 범위를 명확히 하고, 실제 실행 경험이 필요합니다.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34256" y="51846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95% Regulatory Compliance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34256" y="54406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-20% Risk Reduction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28432" y="3886200"/>
            <a:ext cx="3566160" cy="19202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388620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실행 경험 필요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27024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실제 실행에서 나온 학습을 얻고자 합니다. 이론이 아니라 실제 실행에서 나온 학습을 얻고자 합니다.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19872" y="51846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+45% Performance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19872" y="544068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• 3x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9446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944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SUCCESS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- KPI Dashboard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Project #2 기대 성과: 타겟팅 정확도 및 효율성 개선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2651760" cy="20116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전환율 개선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476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</a:rPr>
              <a:t>+25%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목표 45%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현재 20%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536192"/>
            <a:ext cx="2651760" cy="20116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536192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타겟팅 정확도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9476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</a:rPr>
              <a:t>+40%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4612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목표 85%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현재 45%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36192"/>
            <a:ext cx="2651760" cy="20116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36192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리텐션 개선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9476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</a:rPr>
              <a:t>+30%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목표 78%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현재 48%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1536192"/>
            <a:ext cx="2651760" cy="20116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840" y="1536192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마케팅 비용 절감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6840" y="19476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</a:rPr>
              <a:t>-20%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0068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목표 -20%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0684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현재 100%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5577840" cy="1024128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7673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전환율  20% → 45% (+25%)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Before → After improvement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657600"/>
            <a:ext cx="256032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72200" y="3657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타겟팅 정확도 85%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06840" y="3657600"/>
            <a:ext cx="256032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006840" y="3657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고객 참여율 72%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4251960"/>
            <a:ext cx="256032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72200" y="4251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구매 전환 45%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06840" y="4251960"/>
            <a:ext cx="2560320" cy="47548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006840" y="4251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고객 만족 88%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영역 (Collaboration Areas)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 Requirements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AI/AX 프로젝트 성공을 위한 핵심 협업 영역과 구체적인 지원이 필요한 부분을 안내합니다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2697480" cy="1600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45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전략적 가이드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9743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핵심 의사결정 지원 및 전략적 방향성 제시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5559552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5595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활성화 필요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4408" y="4572000"/>
            <a:ext cx="2697480" cy="1600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4645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기술 지원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49743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시스템 통합 및 기술적 문제 해결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5559552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55595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활성화 필요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71616" y="4572000"/>
            <a:ext cx="2697480" cy="1600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4645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리소스 접근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49743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필요한 데이터 및 시스템 리소스 제공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5559552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55595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대기 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878824" y="4572000"/>
            <a:ext cx="2697480" cy="160020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0264" y="4645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검증 지원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70264" y="49743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결과 검증 및 피드백 제공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70264" y="5559552"/>
            <a:ext cx="2514600" cy="256032"/>
          </a:xfrm>
          <a:prstGeom prst="roundRect">
            <a:avLst>
              <a:gd name="adj" fmla="val 17857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0264" y="55595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대기 중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COLLABORATION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귀사의 실제 실행 경험이 우리에게 필요한 이유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3566160" cy="2560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1719072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접근 경험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내부/외부 데이터 접근 실제 어려움과 해결 경험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42232" y="1536192"/>
            <a:ext cx="3566160" cy="2560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05272" y="1719072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79392" y="2496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규제 제약 전문성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79392" y="29077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개인정보 보호법, GDPR 규제 환경 내 데이터 활용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18704" y="1536192"/>
            <a:ext cx="3566160" cy="25603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1719072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1744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55864" y="2496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통합 전문성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55864" y="29077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검증된 외부 데이터셋 통합 실제 경험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병목 지점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0" y="42062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학습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92640" y="42062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적용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46320"/>
            <a:ext cx="11384280" cy="86868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846320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919472"/>
            <a:ext cx="11064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"We seek learning from actual implementation, not theory. With your field expertise added, we will convert this into verifiable results to share back."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COLLABORATION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협업을 통해 배우고자 하는 핵심 영역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5623560" cy="12344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데이터 접근 전략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외부 데이터 소스 접근 방법 및 API 연동 전략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데이터 구매 및 라이선싱 모델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실시간 데이터 수집 및 업데이트 메커니즘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5623560" cy="12344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실제 실행 병목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82696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데이터 정제 및 전처리 프로세스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538728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시스템 통합 시 발생하는 기술적 장애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성능 최적화 및 확장성 문제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5623560" cy="12344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224528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1596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규제 및 제약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26864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개인정보 보호법 및 GDPR 준수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882896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데이터 활용 범위 및 규제 요건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138928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데이터 보안 및 암호화 표준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568696"/>
            <a:ext cx="5623560" cy="123444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5568696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66013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데이터 통합 모범사례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71032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내부-외부 데이터 매핑 및 정합성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227064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데이터 품질 검증 및 클린징 방법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483096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실시간 데이터 동기화 전략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536192"/>
            <a:ext cx="5577840" cy="5047488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1627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</a:rPr>
              <a:t>Knowledge Transfer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4개 영역 활성화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395728"/>
            <a:ext cx="2423160" cy="475488"/>
          </a:xfrm>
          <a:prstGeom prst="roundRect">
            <a:avLst>
              <a:gd name="adj" fmla="val 13462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39572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기술 가이드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15400" y="2395728"/>
            <a:ext cx="2423160" cy="475488"/>
          </a:xfrm>
          <a:prstGeom prst="roundRect">
            <a:avLst>
              <a:gd name="adj" fmla="val 13462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239572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 분석 및 모델링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2990088"/>
            <a:ext cx="2423160" cy="475488"/>
          </a:xfrm>
          <a:prstGeom prst="roundRect">
            <a:avLst>
              <a:gd name="adj" fmla="val 13462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99008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팀 전달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15400" y="2990088"/>
            <a:ext cx="2423160" cy="475488"/>
          </a:xfrm>
          <a:prstGeom prst="roundRect">
            <a:avLst>
              <a:gd name="adj" fmla="val 13462"/>
            </a:avLst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299008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실무 적용 및 검증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성과 측정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0416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KPI 및 ROI 분석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43342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피드백 루프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46268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지속적 개선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(환류 가치)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귀사의 경험을 실제 실행으로 전환하고, 검증된 결과로 다시 환류하여 상호 가치를 창출합니다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3566160" cy="1783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402336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실행 가치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검증된 인사이트를 실제 서비스에 적용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전환 개선 +35%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참여 증가 +42%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24528" y="4023360"/>
            <a:ext cx="3566160" cy="1783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402336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피드백 루프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5968" y="44074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지속적 개선 및 학습 사이클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5968" y="48920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목표 달성률 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5968" y="5166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ROI 개선 +28%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1856" y="4023360"/>
            <a:ext cx="3566160" cy="1783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91856" y="4023360"/>
            <a:ext cx="35661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결과 공유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83296" y="44074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실행 결과 환류 프로세스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83296" y="48920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리텐션 증가 +30%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83296" y="5166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• 고객 만족 +25%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9893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상호 가치 창출: 귀사의 경험을 실제 실행으로 전환하고, 검증된 결과로 다시 환류하여 상호 가치를 창출하는 협업 모델입니다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ACTIONABLE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협업이 가장 실효성 있는 4가지 영역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2697480" cy="39319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26974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Guidance Sessions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기술적 가이드 및 방법론 지원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Data access strategy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8620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Targeting algorithm optimization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Data cleaning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93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Weekly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91256" y="1536192"/>
            <a:ext cx="2697480" cy="39319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91256" y="1536192"/>
            <a:ext cx="26974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5727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Regulatory Navigation Support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2696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규제 환경 내 데이터 활용 지원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2696" y="2496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개인정보 보호법 compliance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28620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GDPR/KISA response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3227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Data scope clarification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82696" y="3593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Legal team collaboration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6752" y="1536192"/>
            <a:ext cx="2697480" cy="39319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1536192"/>
            <a:ext cx="26974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15727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Integration Methodology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08192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데이터 통합 및 분석 방법론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08192" y="2496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Internal-external fusion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08192" y="28620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Quality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3227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Real-time streaming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08192" y="3593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Technical team collaboration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42248" y="1536192"/>
            <a:ext cx="2697480" cy="393192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42248" y="1536192"/>
            <a:ext cx="26974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3688" y="15727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Real-world Case Sharing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33688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</a:rPr>
              <a:t>실제 실행 사례 및 경험 공유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33688" y="2496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Success/failure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33688" y="28620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Real data scenarios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33688" y="32278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Problem resolution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33688" y="35935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Regular case reviews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577840"/>
            <a:ext cx="11384280" cy="41148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5577840"/>
            <a:ext cx="11384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4개 영역  |  85% 예상 성과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16736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VALUE EXCHANGE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Return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</a:rPr>
              <a:t>귀사의 경험을 실제 실행으로 전환하고, 검증된 결과로 다시 환류하겠습니다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단순한 조언 수용이 아닌, 실행과 검증을 통한 실질적 가치 창출을 약속드립니다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5577840" cy="2926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Work to Execute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233172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Apply Insights to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53288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performance service implementation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299008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990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99008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Targeting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19125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internal + external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3648456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48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64845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 with Real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849624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A/B testing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5577840" cy="2926080"/>
          </a:xfrm>
          <a:prstGeom prst="rect">
            <a:avLst/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Results to Share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Success/failure case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715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Conversion +25%  |  Retention +30%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0998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▸ Goal achievement 85%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4838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▸ Conversion +35%  |  Engagement +42%  |  ROI +28%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11384280" cy="749808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02920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029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Receive guidelines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50932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120640" y="502920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5029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Execute and validate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50932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692640" y="502920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E2D4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5029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Share results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239012" cy="2286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390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FEEDBACK LOOP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201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2026.04.09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루프 협업 모델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57432" cy="18288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귀사의 경험을 실제 실행으로 전환하고, 검증된 결과로 다시 환류하는 체계적인 협업 프레임워크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E2D4F"/>
          </a:solidFill>
          <a:ln w="254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17373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가이던스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귀사의 경험 공유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16002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E2D4F"/>
          </a:solidFill>
          <a:ln w="254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7373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실행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69480" y="2651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실제 서비스 적용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35204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E2D4F"/>
          </a:solidFill>
          <a:ln w="254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36576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4206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검증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4572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실사용자 테스트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35204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E2D4F"/>
          </a:solidFill>
          <a:ln w="254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31720" y="36576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환류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572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검증된 결과 공유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4964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↓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480560" y="39136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←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19456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2F6"/>
                </a:solidFill>
              </a:rPr>
              <a:t>↑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365760" y="5166360"/>
            <a:ext cx="11384280" cy="105156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Deliverables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5532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타겟팅 성공/실패 사례 분석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37560" y="5532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전환율 개선 결과(A/B 테스트)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5532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리텐션 인사이트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06840" y="5532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▸ 실행 학습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60533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+25% Conversion  |  +40% Targeting Accuracy  |  +30% Retention  |  -20% Marketing Cost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제안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데이터와 실행, 그리고 실제 성과를 연결하고자 합니다.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귀사의 경험이 더해진다면, 이를 검증 가능한 결과로 만들어 다시 공유드리겠습니다.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27432"/>
          </a:xfrm>
          <a:prstGeom prst="rect">
            <a:avLst/>
          </a:prstGeom>
          <a:solidFill>
            <a:srgbClr val="2A3F6F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11064240" cy="1188720"/>
          </a:xfrm>
          <a:prstGeom prst="rect">
            <a:avLst/>
          </a:prstGeom>
          <a:solidFill>
            <a:srgbClr val="162244"/>
          </a:solidFill>
          <a:ln w="12700">
            <a:solidFill>
              <a:srgbClr val="2A3F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42900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기반의 실행과 검증된 결과로 상호 가치를 창출하는 파트너십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2026.04.09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2260</Words>
  <Application>Microsoft Office PowerPoint</Application>
  <PresentationFormat>와이드스크린</PresentationFormat>
  <Paragraphs>577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AI/AX 전략 및 협업 제안</dc:title>
  <dc:subject>PptxGenJS Presentation</dc:subject>
  <dc:creator>AI/AX Strategy Team</dc:creator>
  <cp:lastModifiedBy>김 형찬</cp:lastModifiedBy>
  <cp:revision>2</cp:revision>
  <dcterms:created xsi:type="dcterms:W3CDTF">2026-04-09T06:23:37Z</dcterms:created>
  <dcterms:modified xsi:type="dcterms:W3CDTF">2026-04-09T06:33:06Z</dcterms:modified>
</cp:coreProperties>
</file>